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570" y="342900"/>
            <a:ext cx="4033430" cy="4038600"/>
          </a:xfrm>
          <a:custGeom>
            <a:avLst/>
            <a:gdLst/>
            <a:ahLst/>
            <a:cxnLst/>
            <a:rect l="l" t="t" r="r" b="b"/>
            <a:pathLst>
              <a:path w="3504436" h="3971033">
                <a:moveTo>
                  <a:pt x="0" y="0"/>
                </a:moveTo>
                <a:lnTo>
                  <a:pt x="3504437" y="0"/>
                </a:lnTo>
                <a:lnTo>
                  <a:pt x="3504437" y="3971033"/>
                </a:lnTo>
                <a:lnTo>
                  <a:pt x="0" y="3971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44276" y="5288262"/>
            <a:ext cx="13322799" cy="2263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2"/>
              </a:lnSpc>
              <a:spcBef>
                <a:spcPct val="0"/>
              </a:spcBef>
            </a:pPr>
            <a:r>
              <a:rPr lang="en-US" sz="6508" b="1">
                <a:solidFill>
                  <a:srgbClr val="FC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Pattern Based Object Detection for Aerial Reconnassince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11200" y="8630920"/>
            <a:ext cx="4648200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 dirty="0">
                <a:solidFill>
                  <a:srgbClr val="FC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K. Sai Venkata Rakesh</a:t>
            </a:r>
          </a:p>
          <a:p>
            <a:pPr algn="ctr">
              <a:lnSpc>
                <a:spcPts val="4340"/>
              </a:lnSpc>
            </a:pPr>
            <a:r>
              <a:rPr lang="en-US" sz="3100" b="1" dirty="0">
                <a:solidFill>
                  <a:srgbClr val="FC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Yamir Singh </a:t>
            </a:r>
            <a:r>
              <a:rPr lang="en-US" sz="3100" b="1" dirty="0" err="1">
                <a:solidFill>
                  <a:srgbClr val="FC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Bamel</a:t>
            </a:r>
            <a:endParaRPr lang="en-US" sz="3100" b="1" dirty="0">
              <a:solidFill>
                <a:srgbClr val="FCFBF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592086" cy="10287000"/>
          </a:xfrm>
          <a:custGeom>
            <a:avLst/>
            <a:gdLst/>
            <a:ahLst/>
            <a:cxnLst/>
            <a:rect l="l" t="t" r="r" b="b"/>
            <a:pathLst>
              <a:path w="6592086" h="10287000">
                <a:moveTo>
                  <a:pt x="0" y="0"/>
                </a:moveTo>
                <a:lnTo>
                  <a:pt x="6592086" y="0"/>
                </a:lnTo>
                <a:lnTo>
                  <a:pt x="65920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672" r="-8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82878" y="644401"/>
            <a:ext cx="10500322" cy="319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  <a:p>
            <a:pPr algn="ctr">
              <a:lnSpc>
                <a:spcPts val="12880"/>
              </a:lnSpc>
            </a:pPr>
            <a:endParaRPr lang="en-US" sz="92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49528" y="2797812"/>
            <a:ext cx="10296936" cy="517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CF9E72"/>
                </a:solidFill>
                <a:latin typeface="Canva Sans"/>
                <a:ea typeface="Canva Sans"/>
                <a:cs typeface="Canva Sans"/>
                <a:sym typeface="Canva Sans"/>
              </a:rPr>
              <a:t>This Project aims to develop a prototype system that demonstrates pattern-based object detection in aerial imagery, to identify and track mission-critical assets such as vehicles, air crafts , Bunkers , air craft in reconnassiance footage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 rot="-297605">
            <a:off x="9942218" y="879358"/>
            <a:ext cx="7518510" cy="876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9"/>
              </a:lnSpc>
            </a:pPr>
            <a:r>
              <a:rPr lang="en-US" sz="5149" b="1" dirty="0">
                <a:solidFill>
                  <a:srgbClr val="2624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40970" y="1799647"/>
            <a:ext cx="14206059" cy="7915263"/>
            <a:chOff x="0" y="0"/>
            <a:chExt cx="18941413" cy="105536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4024" cy="1563662"/>
              <a:chOff x="0" y="0"/>
              <a:chExt cx="468943" cy="30887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68943" cy="308872"/>
              </a:xfrm>
              <a:custGeom>
                <a:avLst/>
                <a:gdLst/>
                <a:ahLst/>
                <a:cxnLst/>
                <a:rect l="l" t="t" r="r" b="b"/>
                <a:pathLst>
                  <a:path w="468943" h="308872">
                    <a:moveTo>
                      <a:pt x="0" y="0"/>
                    </a:moveTo>
                    <a:lnTo>
                      <a:pt x="468943" y="0"/>
                    </a:lnTo>
                    <a:lnTo>
                      <a:pt x="468943" y="308872"/>
                    </a:lnTo>
                    <a:lnTo>
                      <a:pt x="0" y="308872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68943" cy="346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pattern Image 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311031"/>
              <a:ext cx="2374024" cy="1766862"/>
              <a:chOff x="0" y="0"/>
              <a:chExt cx="468943" cy="34901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68943" cy="349010"/>
              </a:xfrm>
              <a:custGeom>
                <a:avLst/>
                <a:gdLst/>
                <a:ahLst/>
                <a:cxnLst/>
                <a:rect l="l" t="t" r="r" b="b"/>
                <a:pathLst>
                  <a:path w="468943" h="349010">
                    <a:moveTo>
                      <a:pt x="0" y="0"/>
                    </a:moveTo>
                    <a:lnTo>
                      <a:pt x="468943" y="0"/>
                    </a:lnTo>
                    <a:lnTo>
                      <a:pt x="468943" y="349010"/>
                    </a:lnTo>
                    <a:lnTo>
                      <a:pt x="0" y="349010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68943" cy="387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Query Image </a:t>
                </a:r>
              </a:p>
            </p:txBody>
          </p:sp>
        </p:grpSp>
        <p:sp>
          <p:nvSpPr>
            <p:cNvPr id="9" name="AutoShape 9"/>
            <p:cNvSpPr/>
            <p:nvPr/>
          </p:nvSpPr>
          <p:spPr>
            <a:xfrm flipV="1">
              <a:off x="2405096" y="781831"/>
              <a:ext cx="1453107" cy="254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2392840" y="3143666"/>
              <a:ext cx="1453107" cy="254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3858203" y="807231"/>
              <a:ext cx="0" cy="2336435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3909447" y="1843058"/>
              <a:ext cx="94289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903138" y="807231"/>
              <a:ext cx="3454506" cy="1623689"/>
              <a:chOff x="0" y="0"/>
              <a:chExt cx="682371" cy="3207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82371" cy="320729"/>
              </a:xfrm>
              <a:custGeom>
                <a:avLst/>
                <a:gdLst/>
                <a:ahLst/>
                <a:cxnLst/>
                <a:rect l="l" t="t" r="r" b="b"/>
                <a:pathLst>
                  <a:path w="682371" h="320729">
                    <a:moveTo>
                      <a:pt x="0" y="0"/>
                    </a:moveTo>
                    <a:lnTo>
                      <a:pt x="682371" y="0"/>
                    </a:lnTo>
                    <a:lnTo>
                      <a:pt x="682371" y="320729"/>
                    </a:lnTo>
                    <a:lnTo>
                      <a:pt x="0" y="320729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82371" cy="3588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contrastive filter +Edge detection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8357644" y="1716058"/>
              <a:ext cx="94289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300535" y="1264374"/>
              <a:ext cx="4114800" cy="903368"/>
              <a:chOff x="0" y="0"/>
              <a:chExt cx="812800" cy="17844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1784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7844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78443"/>
                    </a:lnTo>
                    <a:lnTo>
                      <a:pt x="0" y="178443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812800" cy="216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SAM Model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13415335" y="1716058"/>
              <a:ext cx="94289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4345526" y="1061521"/>
              <a:ext cx="4114800" cy="1168416"/>
              <a:chOff x="0" y="0"/>
              <a:chExt cx="812800" cy="23079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23079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798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798"/>
                    </a:lnTo>
                    <a:lnTo>
                      <a:pt x="0" y="230798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812800" cy="2688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Segments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611057" y="3431122"/>
              <a:ext cx="4114800" cy="1293542"/>
              <a:chOff x="0" y="0"/>
              <a:chExt cx="812800" cy="25551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2555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5551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5514"/>
                    </a:lnTo>
                    <a:lnTo>
                      <a:pt x="0" y="255514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12800" cy="2936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DinoV2 Large Model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6668457" y="2311031"/>
              <a:ext cx="0" cy="1120091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6668457" y="4711964"/>
              <a:ext cx="0" cy="1120091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4611057" y="5832055"/>
              <a:ext cx="4114800" cy="1593676"/>
              <a:chOff x="0" y="0"/>
              <a:chExt cx="812800" cy="314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314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4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14800"/>
                    </a:lnTo>
                    <a:lnTo>
                      <a:pt x="0" y="314800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812800" cy="35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Feature Embeddings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16693857" y="7425731"/>
              <a:ext cx="0" cy="1120091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4826613" y="8622022"/>
              <a:ext cx="4114800" cy="1931662"/>
              <a:chOff x="0" y="0"/>
              <a:chExt cx="812800" cy="38156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38156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8156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1563"/>
                    </a:lnTo>
                    <a:lnTo>
                      <a:pt x="0" y="381563"/>
                    </a:lnTo>
                    <a:close/>
                  </a:path>
                </a:pathLst>
              </a:custGeom>
              <a:solidFill>
                <a:srgbClr val="CF9E72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2800" cy="4196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Finding similarity by using metrics like  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L2 distance, Cosine Similarity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5295141" y="135312"/>
            <a:ext cx="8066365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5187" y="1890780"/>
            <a:ext cx="15574113" cy="730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🔍 Why SAM Is Game-Changing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Universal Segmentation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Works on any object, any domain, without retraining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Zero-shot generalization: just click, draw a box, or let it auto-detect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Promptable Segmentation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Input "prompts" = points, boxes, text, masks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It returns high-quality segmentation masks instantly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Massive Training Scale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Trained on over 11 million images and 1.1 billion masks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Best generalization in segmentation ever seen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Modular + Flexible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Can be plugged into any vision pipeline: image editing, robotics, AR, medical, agriculture,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satellites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🚀Process :   Image Encoder ---&gt; Prompt Encoder ---&gt; Mask Encoder ---&gt; Post 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2228" y="695649"/>
            <a:ext cx="11794971" cy="828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 - SEGMENT ANYTHING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5245" y="761429"/>
            <a:ext cx="8233555" cy="828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DINOV2 MODEL - </a:t>
            </a:r>
            <a:r>
              <a:rPr lang="en-US" sz="49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MetaAI</a:t>
            </a:r>
            <a:endParaRPr lang="en-US" sz="49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57400" y="1943100"/>
            <a:ext cx="13793783" cy="722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🧠 Why DINOv2-Large Is a Disruptor</a:t>
            </a:r>
          </a:p>
          <a:p>
            <a:pPr marL="679718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Self-Supervised Learning at Scale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Learns from internet-scale raw image data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No labels. Just smart learning from visual patterns</a:t>
            </a:r>
          </a:p>
          <a:p>
            <a:pPr marL="679718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ViT</a:t>
            </a: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-Based Architecture (Vision Transformer)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Uses </a:t>
            </a:r>
            <a:r>
              <a:rPr lang="en-US" sz="3148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ViT</a:t>
            </a: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-L/14 architecture (Large model, 14x14 patch size)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Strong inductive bias for long-range spatial relationships</a:t>
            </a:r>
          </a:p>
          <a:p>
            <a:pPr marL="679718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Robust Feature Embeddings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Embeddings are semantic, dense, and domain-agnostic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Supports tasks from object detection to segmentation to retrieval</a:t>
            </a:r>
          </a:p>
          <a:p>
            <a:pPr marL="679718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Strong Across Modalities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Works in medical, satellite, artwork, microscopic, infrared, etc.</a:t>
            </a:r>
          </a:p>
          <a:p>
            <a:pPr algn="l">
              <a:lnSpc>
                <a:spcPts val="4407"/>
              </a:lnSpc>
            </a:pPr>
            <a:r>
              <a:rPr lang="en-US" sz="314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Outperforms CLIP and SAM in representation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27836" y="401269"/>
            <a:ext cx="8183364" cy="828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DINOV2 MODEL - </a:t>
            </a:r>
            <a:r>
              <a:rPr lang="en-US" sz="49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MetaAI</a:t>
            </a:r>
            <a:endParaRPr lang="en-US" sz="49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45184" y="1365211"/>
            <a:ext cx="15696724" cy="827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⚙️ How DINOv2 Works (Simplified Pipeline)</a:t>
            </a:r>
          </a:p>
          <a:p>
            <a:pPr algn="l">
              <a:lnSpc>
                <a:spcPts val="4407"/>
              </a:lnSpc>
            </a:pPr>
            <a:endParaRPr lang="en-US" sz="314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79717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Augmentation (Views)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Each image is augmented into multiple views (crops, colors, scales)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→ Teaches the model to learn viewpoint-agnostic features</a:t>
            </a:r>
          </a:p>
          <a:p>
            <a:pPr marL="679717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Student-Teacher Setup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Two ViT models: teacher (slow-moving) and student (trainable)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Student tries to match teacher's output for the same image (different views)</a:t>
            </a:r>
          </a:p>
          <a:p>
            <a:pPr marL="679717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 Alignment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Through distillation, the model aligns high-level semantics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No label needed, just consistency across views</a:t>
            </a:r>
          </a:p>
          <a:p>
            <a:pPr marL="679717" lvl="1" indent="-339859" algn="l">
              <a:lnSpc>
                <a:spcPts val="4407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Contrastive + Self-Distillation Losses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Avoids collapsing solutions (e.g., same output for all images)</a:t>
            </a:r>
          </a:p>
          <a:p>
            <a:pPr algn="l">
              <a:lnSpc>
                <a:spcPts val="4407"/>
              </a:lnSpc>
            </a:pPr>
            <a:r>
              <a:rPr lang="en-US" sz="31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→ Emerges with rich semantic structure in embedding space</a:t>
            </a:r>
          </a:p>
          <a:p>
            <a:pPr algn="l">
              <a:lnSpc>
                <a:spcPts val="4407"/>
              </a:lnSpc>
            </a:pPr>
            <a:endParaRPr lang="en-US" sz="314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2732" y="713559"/>
            <a:ext cx="8095869" cy="8229600"/>
          </a:xfrm>
          <a:custGeom>
            <a:avLst/>
            <a:gdLst/>
            <a:ahLst/>
            <a:cxnLst/>
            <a:rect l="l" t="t" r="r" b="b"/>
            <a:pathLst>
              <a:path w="8095869" h="8229600">
                <a:moveTo>
                  <a:pt x="0" y="0"/>
                </a:moveTo>
                <a:lnTo>
                  <a:pt x="8095869" y="0"/>
                </a:lnTo>
                <a:lnTo>
                  <a:pt x="809586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28800" y="3657905"/>
            <a:ext cx="7315200" cy="1755648"/>
          </a:xfrm>
          <a:custGeom>
            <a:avLst/>
            <a:gdLst/>
            <a:ahLst/>
            <a:cxnLst/>
            <a:rect l="l" t="t" r="r" b="b"/>
            <a:pathLst>
              <a:path w="7315200" h="1755648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454</Words>
  <Application>Microsoft Office PowerPoint</Application>
  <PresentationFormat>Custom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Canva Sans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Based Object Detection for Aerial Reconnassince</dc:title>
  <dc:creator>SAI VENKATA RAKESH KILLAMSETTY</dc:creator>
  <cp:lastModifiedBy>SAI VENKATA RAKESH KILLAMSETTY</cp:lastModifiedBy>
  <cp:revision>2</cp:revision>
  <dcterms:created xsi:type="dcterms:W3CDTF">2006-08-16T00:00:00Z</dcterms:created>
  <dcterms:modified xsi:type="dcterms:W3CDTF">2025-07-06T19:37:02Z</dcterms:modified>
  <dc:identifier>DAGsavz2Mk4</dc:identifier>
</cp:coreProperties>
</file>